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Proxima Nova"/>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AA33C7-9180-42F9-AE43-3899BA216C40}">
  <a:tblStyle styleId="{D0AA33C7-9180-42F9-AE43-3899BA216C4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ProximaNova-regular.fntdata"/><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ProximaNova-italic.fntdata"/><Relationship Id="rId14" Type="http://schemas.openxmlformats.org/officeDocument/2006/relationships/font" Target="fonts/ProximaNova-bold.fntdata"/><Relationship Id="rId16" Type="http://schemas.openxmlformats.org/officeDocument/2006/relationships/font" Target="fonts/ProximaNova-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0619196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0619196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06191962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06191962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0632d11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0632d11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0632d110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c0632d110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0632d110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0632d110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Boosting Algorithm</a:t>
            </a:r>
            <a:br>
              <a:rPr lang="en"/>
            </a:br>
            <a:r>
              <a:rPr lang="en"/>
              <a:t>Assignment</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Rezon Lambert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Boosting Algorithm?</a:t>
            </a:r>
            <a:endParaRPr/>
          </a:p>
        </p:txBody>
      </p:sp>
      <p:sp>
        <p:nvSpPr>
          <p:cNvPr id="66" name="Google Shape;66;p14"/>
          <p:cNvSpPr txBox="1"/>
          <p:nvPr>
            <p:ph idx="1" type="body"/>
          </p:nvPr>
        </p:nvSpPr>
        <p:spPr>
          <a:xfrm>
            <a:off x="311700" y="1152475"/>
            <a:ext cx="39057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a:t>Boosting is an Ensemble Learning method that converts a team of "weak learners" into a single "strong learner."</a:t>
            </a:r>
            <a:br>
              <a:rPr lang="en"/>
            </a:br>
            <a:br>
              <a:rPr lang="en"/>
            </a:br>
            <a:r>
              <a:rPr lang="en"/>
              <a:t>Unlike other methods that train models independently, boosting works sequentially. Each new model focuses specifically on the mistakes (residuals) made by the previous ones.</a:t>
            </a:r>
            <a:br>
              <a:rPr lang="en"/>
            </a:br>
            <a:br>
              <a:rPr lang="en"/>
            </a:br>
            <a:r>
              <a:rPr lang="en"/>
              <a:t>This can be used when you have a complex dataset where a single model isn't accurate enough, and you want to push for the highest possible precision.</a:t>
            </a:r>
            <a:endParaRPr/>
          </a:p>
        </p:txBody>
      </p:sp>
      <p:pic>
        <p:nvPicPr>
          <p:cNvPr id="67" name="Google Shape;67;p14"/>
          <p:cNvPicPr preferRelativeResize="0"/>
          <p:nvPr/>
        </p:nvPicPr>
        <p:blipFill>
          <a:blip r:embed="rId3">
            <a:alphaModFix/>
          </a:blip>
          <a:stretch>
            <a:fillRect/>
          </a:stretch>
        </p:blipFill>
        <p:spPr>
          <a:xfrm>
            <a:off x="4365075" y="1283750"/>
            <a:ext cx="4726376" cy="2963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Adaptive Boosting</a:t>
            </a:r>
            <a:endParaRPr/>
          </a:p>
        </p:txBody>
      </p:sp>
      <p:sp>
        <p:nvSpPr>
          <p:cNvPr id="73" name="Google Shape;73;p15"/>
          <p:cNvSpPr txBox="1"/>
          <p:nvPr>
            <p:ph idx="1" type="body"/>
          </p:nvPr>
        </p:nvSpPr>
        <p:spPr>
          <a:xfrm>
            <a:off x="311700" y="1152475"/>
            <a:ext cx="48417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a:t>AdaBoost (Adaptive Boosting) assigns equal weights to all training samples initially and iteratively adjusts these weights by focusing more on misclassified data points for the next model. It effectively reduces bias and variance making it useful for classification tasks but it can be sensitive to noisy data and outliers.</a:t>
            </a:r>
            <a:br>
              <a:rPr lang="en"/>
            </a:br>
            <a:br>
              <a:rPr lang="en"/>
            </a:br>
            <a:r>
              <a:rPr lang="en"/>
              <a:t>The pioneer of boosting. It works by reweighting data. If a data point is misclassified, its "weight" is increased so the next model pays more attention to it.</a:t>
            </a:r>
            <a:br>
              <a:rPr lang="en"/>
            </a:br>
            <a:br>
              <a:rPr lang="en"/>
            </a:br>
            <a:r>
              <a:rPr lang="en"/>
              <a:t>Example -  Face Detection: Classifying images as "Face" vs. "No Face."</a:t>
            </a:r>
            <a:endParaRPr/>
          </a:p>
        </p:txBody>
      </p:sp>
      <p:pic>
        <p:nvPicPr>
          <p:cNvPr id="74" name="Google Shape;74;p15"/>
          <p:cNvPicPr preferRelativeResize="0"/>
          <p:nvPr/>
        </p:nvPicPr>
        <p:blipFill rotWithShape="1">
          <a:blip r:embed="rId3">
            <a:alphaModFix/>
          </a:blip>
          <a:srcRect b="7587" l="4470" r="0" t="0"/>
          <a:stretch/>
        </p:blipFill>
        <p:spPr>
          <a:xfrm>
            <a:off x="5153400" y="1152475"/>
            <a:ext cx="3862500" cy="3202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Extreme Gradient Boosting</a:t>
            </a:r>
            <a:endParaRPr/>
          </a:p>
        </p:txBody>
      </p:sp>
      <p:sp>
        <p:nvSpPr>
          <p:cNvPr id="80" name="Google Shape;80;p16"/>
          <p:cNvSpPr txBox="1"/>
          <p:nvPr>
            <p:ph idx="1" type="body"/>
          </p:nvPr>
        </p:nvSpPr>
        <p:spPr>
          <a:xfrm>
            <a:off x="311700" y="1152475"/>
            <a:ext cx="40830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t>An advanced version of Gradient Boosting built for speed and performance. It uses "Regularization" to prevent the model from becoming too complex and memorizing the data (overfitting).</a:t>
            </a:r>
            <a:br>
              <a:rPr lang="en"/>
            </a:br>
            <a:br>
              <a:rPr lang="en"/>
            </a:br>
            <a:r>
              <a:rPr lang="en"/>
              <a:t>It builds trees level-wise (growing horizontally across each level) and uses system-level optimizations like parallel processing.</a:t>
            </a:r>
            <a:br>
              <a:rPr lang="en"/>
            </a:br>
            <a:br>
              <a:rPr lang="en"/>
            </a:br>
            <a:r>
              <a:rPr lang="en"/>
              <a:t>Example - Predicting loan defaults or insurance claims where accuracy is critical</a:t>
            </a:r>
            <a:endParaRPr/>
          </a:p>
        </p:txBody>
      </p:sp>
      <p:pic>
        <p:nvPicPr>
          <p:cNvPr id="81" name="Google Shape;81;p16"/>
          <p:cNvPicPr preferRelativeResize="0"/>
          <p:nvPr/>
        </p:nvPicPr>
        <p:blipFill rotWithShape="1">
          <a:blip r:embed="rId3">
            <a:alphaModFix/>
          </a:blip>
          <a:srcRect b="0" l="563" r="553" t="0"/>
          <a:stretch/>
        </p:blipFill>
        <p:spPr>
          <a:xfrm>
            <a:off x="4394688" y="868400"/>
            <a:ext cx="4676774" cy="38058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Light Gradient Boosting Machine</a:t>
            </a:r>
            <a:endParaRPr/>
          </a:p>
        </p:txBody>
      </p:sp>
      <p:sp>
        <p:nvSpPr>
          <p:cNvPr id="87" name="Google Shape;87;p1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It grows trees leaf-wise (vertically). It picks the single most "broken" leaf and splits it further, rather than growing the whole level. This makes it much faster but requires careful tuning.</a:t>
            </a:r>
            <a:br>
              <a:rPr lang="en"/>
            </a:br>
            <a:br>
              <a:rPr lang="en"/>
            </a:br>
            <a:r>
              <a:rPr lang="en"/>
              <a:t>It is designed to handle massive datasets with lightning speed and low memory usage.</a:t>
            </a:r>
            <a:br>
              <a:rPr lang="en"/>
            </a:br>
            <a:br>
              <a:rPr lang="en"/>
            </a:br>
            <a:r>
              <a:rPr lang="en"/>
              <a:t>Example - Recommendation systems or search engine result ranking</a:t>
            </a:r>
            <a:endParaRPr/>
          </a:p>
        </p:txBody>
      </p:sp>
      <p:pic>
        <p:nvPicPr>
          <p:cNvPr id="88" name="Google Shape;88;p17"/>
          <p:cNvPicPr preferRelativeResize="0"/>
          <p:nvPr/>
        </p:nvPicPr>
        <p:blipFill rotWithShape="1">
          <a:blip r:embed="rId3">
            <a:alphaModFix/>
          </a:blip>
          <a:srcRect b="0" l="553" r="543" t="0"/>
          <a:stretch/>
        </p:blipFill>
        <p:spPr>
          <a:xfrm>
            <a:off x="4572000" y="1329550"/>
            <a:ext cx="4374725" cy="3062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graphicFrame>
        <p:nvGraphicFramePr>
          <p:cNvPr id="93" name="Google Shape;93;p18"/>
          <p:cNvGraphicFramePr/>
          <p:nvPr/>
        </p:nvGraphicFramePr>
        <p:xfrm>
          <a:off x="952500" y="1459325"/>
          <a:ext cx="3000000" cy="3000000"/>
        </p:xfrm>
        <a:graphic>
          <a:graphicData uri="http://schemas.openxmlformats.org/drawingml/2006/table">
            <a:tbl>
              <a:tblPr>
                <a:noFill/>
                <a:tableStyleId>{D0AA33C7-9180-42F9-AE43-3899BA216C40}</a:tableStyleId>
              </a:tblPr>
              <a:tblGrid>
                <a:gridCol w="1809750"/>
                <a:gridCol w="1809750"/>
                <a:gridCol w="1809750"/>
                <a:gridCol w="1809750"/>
              </a:tblGrid>
              <a:tr h="381000">
                <a:tc>
                  <a:txBody>
                    <a:bodyPr/>
                    <a:lstStyle/>
                    <a:p>
                      <a:pPr indent="0" lvl="0" marL="0" rtl="0" algn="ctr">
                        <a:spcBef>
                          <a:spcPts val="0"/>
                        </a:spcBef>
                        <a:spcAft>
                          <a:spcPts val="0"/>
                        </a:spcAft>
                        <a:buNone/>
                      </a:pPr>
                      <a:r>
                        <a:rPr b="1" lang="en"/>
                        <a:t>Algorithm</a:t>
                      </a:r>
                      <a:endParaRPr b="1"/>
                    </a:p>
                  </a:txBody>
                  <a:tcPr marT="91425" marB="91425" marR="91425" marL="91425"/>
                </a:tc>
                <a:tc>
                  <a:txBody>
                    <a:bodyPr/>
                    <a:lstStyle/>
                    <a:p>
                      <a:pPr indent="0" lvl="0" marL="0" rtl="0" algn="ctr">
                        <a:spcBef>
                          <a:spcPts val="0"/>
                        </a:spcBef>
                        <a:spcAft>
                          <a:spcPts val="0"/>
                        </a:spcAft>
                        <a:buNone/>
                      </a:pPr>
                      <a:r>
                        <a:rPr b="1" lang="en"/>
                        <a:t>Strategy</a:t>
                      </a:r>
                      <a:endParaRPr b="1"/>
                    </a:p>
                  </a:txBody>
                  <a:tcPr marT="91425" marB="91425" marR="91425" marL="91425"/>
                </a:tc>
                <a:tc>
                  <a:txBody>
                    <a:bodyPr/>
                    <a:lstStyle/>
                    <a:p>
                      <a:pPr indent="0" lvl="0" marL="0" rtl="0" algn="ctr">
                        <a:spcBef>
                          <a:spcPts val="0"/>
                        </a:spcBef>
                        <a:spcAft>
                          <a:spcPts val="0"/>
                        </a:spcAft>
                        <a:buNone/>
                      </a:pPr>
                      <a:r>
                        <a:rPr b="1" lang="en"/>
                        <a:t>Tree Growth</a:t>
                      </a:r>
                      <a:endParaRPr b="1"/>
                    </a:p>
                  </a:txBody>
                  <a:tcPr marT="91425" marB="91425" marR="91425" marL="91425"/>
                </a:tc>
                <a:tc>
                  <a:txBody>
                    <a:bodyPr/>
                    <a:lstStyle/>
                    <a:p>
                      <a:pPr indent="0" lvl="0" marL="0" rtl="0" algn="ctr">
                        <a:spcBef>
                          <a:spcPts val="0"/>
                        </a:spcBef>
                        <a:spcAft>
                          <a:spcPts val="0"/>
                        </a:spcAft>
                        <a:buNone/>
                      </a:pPr>
                      <a:r>
                        <a:rPr b="1" lang="en"/>
                        <a:t>Best For</a:t>
                      </a:r>
                      <a:endParaRPr b="1"/>
                    </a:p>
                  </a:txBody>
                  <a:tcPr marT="91425" marB="91425" marR="91425" marL="91425"/>
                </a:tc>
              </a:tr>
              <a:tr h="381000">
                <a:tc>
                  <a:txBody>
                    <a:bodyPr/>
                    <a:lstStyle/>
                    <a:p>
                      <a:pPr indent="0" lvl="0" marL="0" rtl="0" algn="ctr">
                        <a:spcBef>
                          <a:spcPts val="0"/>
                        </a:spcBef>
                        <a:spcAft>
                          <a:spcPts val="0"/>
                        </a:spcAft>
                        <a:buNone/>
                      </a:pPr>
                      <a:r>
                        <a:rPr lang="en"/>
                        <a:t>AdaBoost</a:t>
                      </a:r>
                      <a:endParaRPr/>
                    </a:p>
                  </a:txBody>
                  <a:tcPr marT="91425" marB="91425" marR="91425" marL="91425"/>
                </a:tc>
                <a:tc>
                  <a:txBody>
                    <a:bodyPr/>
                    <a:lstStyle/>
                    <a:p>
                      <a:pPr indent="0" lvl="0" marL="0" rtl="0" algn="ctr">
                        <a:spcBef>
                          <a:spcPts val="0"/>
                        </a:spcBef>
                        <a:spcAft>
                          <a:spcPts val="0"/>
                        </a:spcAft>
                        <a:buNone/>
                      </a:pPr>
                      <a:r>
                        <a:rPr lang="en"/>
                        <a:t>Weighting Samples</a:t>
                      </a:r>
                      <a:endParaRPr/>
                    </a:p>
                  </a:txBody>
                  <a:tcPr marT="91425" marB="91425" marR="91425" marL="91425"/>
                </a:tc>
                <a:tc>
                  <a:txBody>
                    <a:bodyPr/>
                    <a:lstStyle/>
                    <a:p>
                      <a:pPr indent="0" lvl="0" marL="0" rtl="0" algn="ctr">
                        <a:spcBef>
                          <a:spcPts val="0"/>
                        </a:spcBef>
                        <a:spcAft>
                          <a:spcPts val="0"/>
                        </a:spcAft>
                        <a:buNone/>
                      </a:pPr>
                      <a:r>
                        <a:rPr lang="en"/>
                        <a:t>Sequential Stumps</a:t>
                      </a:r>
                      <a:endParaRPr/>
                    </a:p>
                  </a:txBody>
                  <a:tcPr marT="91425" marB="91425" marR="91425" marL="91425"/>
                </a:tc>
                <a:tc>
                  <a:txBody>
                    <a:bodyPr/>
                    <a:lstStyle/>
                    <a:p>
                      <a:pPr indent="0" lvl="0" marL="0" rtl="0" algn="ctr">
                        <a:spcBef>
                          <a:spcPts val="0"/>
                        </a:spcBef>
                        <a:spcAft>
                          <a:spcPts val="0"/>
                        </a:spcAft>
                        <a:buNone/>
                      </a:pPr>
                      <a:r>
                        <a:rPr lang="en"/>
                        <a:t>Simple binary classification</a:t>
                      </a:r>
                      <a:endParaRPr/>
                    </a:p>
                  </a:txBody>
                  <a:tcPr marT="91425" marB="91425" marR="91425" marL="91425"/>
                </a:tc>
              </a:tr>
              <a:tr h="381000">
                <a:tc>
                  <a:txBody>
                    <a:bodyPr/>
                    <a:lstStyle/>
                    <a:p>
                      <a:pPr indent="0" lvl="0" marL="0" rtl="0" algn="ctr">
                        <a:spcBef>
                          <a:spcPts val="0"/>
                        </a:spcBef>
                        <a:spcAft>
                          <a:spcPts val="0"/>
                        </a:spcAft>
                        <a:buNone/>
                      </a:pPr>
                      <a:r>
                        <a:rPr lang="en"/>
                        <a:t>XGBoost</a:t>
                      </a:r>
                      <a:endParaRPr/>
                    </a:p>
                  </a:txBody>
                  <a:tcPr marT="91425" marB="91425" marR="91425" marL="91425"/>
                </a:tc>
                <a:tc>
                  <a:txBody>
                    <a:bodyPr/>
                    <a:lstStyle/>
                    <a:p>
                      <a:pPr indent="0" lvl="0" marL="0" rtl="0" algn="ctr">
                        <a:spcBef>
                          <a:spcPts val="0"/>
                        </a:spcBef>
                        <a:spcAft>
                          <a:spcPts val="0"/>
                        </a:spcAft>
                        <a:buNone/>
                      </a:pPr>
                      <a:r>
                        <a:rPr lang="en"/>
                        <a:t>Gradient Descent</a:t>
                      </a:r>
                      <a:endParaRPr/>
                    </a:p>
                  </a:txBody>
                  <a:tcPr marT="91425" marB="91425" marR="91425" marL="91425"/>
                </a:tc>
                <a:tc>
                  <a:txBody>
                    <a:bodyPr/>
                    <a:lstStyle/>
                    <a:p>
                      <a:pPr indent="0" lvl="0" marL="0" rtl="0" algn="ctr">
                        <a:spcBef>
                          <a:spcPts val="0"/>
                        </a:spcBef>
                        <a:spcAft>
                          <a:spcPts val="0"/>
                        </a:spcAft>
                        <a:buNone/>
                      </a:pPr>
                      <a:r>
                        <a:rPr lang="en"/>
                        <a:t>Level-wise</a:t>
                      </a:r>
                      <a:endParaRPr/>
                    </a:p>
                  </a:txBody>
                  <a:tcPr marT="91425" marB="91425" marR="91425" marL="91425"/>
                </a:tc>
                <a:tc>
                  <a:txBody>
                    <a:bodyPr/>
                    <a:lstStyle/>
                    <a:p>
                      <a:pPr indent="0" lvl="0" marL="0" rtl="0" algn="ctr">
                        <a:spcBef>
                          <a:spcPts val="0"/>
                        </a:spcBef>
                        <a:spcAft>
                          <a:spcPts val="0"/>
                        </a:spcAft>
                        <a:buNone/>
                      </a:pPr>
                      <a:r>
                        <a:rPr lang="en"/>
                        <a:t>Medium data, high accuracy</a:t>
                      </a:r>
                      <a:endParaRPr/>
                    </a:p>
                  </a:txBody>
                  <a:tcPr marT="91425" marB="91425" marR="91425" marL="91425"/>
                </a:tc>
              </a:tr>
              <a:tr h="381000">
                <a:tc>
                  <a:txBody>
                    <a:bodyPr/>
                    <a:lstStyle/>
                    <a:p>
                      <a:pPr indent="0" lvl="0" marL="0" rtl="0" algn="ctr">
                        <a:spcBef>
                          <a:spcPts val="0"/>
                        </a:spcBef>
                        <a:spcAft>
                          <a:spcPts val="0"/>
                        </a:spcAft>
                        <a:buNone/>
                      </a:pPr>
                      <a:r>
                        <a:rPr lang="en"/>
                        <a:t>LightGBM</a:t>
                      </a:r>
                      <a:endParaRPr/>
                    </a:p>
                  </a:txBody>
                  <a:tcPr marT="91425" marB="91425" marR="91425" marL="91425"/>
                </a:tc>
                <a:tc>
                  <a:txBody>
                    <a:bodyPr/>
                    <a:lstStyle/>
                    <a:p>
                      <a:pPr indent="0" lvl="0" marL="0" rtl="0" algn="ctr">
                        <a:spcBef>
                          <a:spcPts val="0"/>
                        </a:spcBef>
                        <a:spcAft>
                          <a:spcPts val="0"/>
                        </a:spcAft>
                        <a:buNone/>
                      </a:pPr>
                      <a:r>
                        <a:rPr lang="en"/>
                        <a:t>Gradient Descent</a:t>
                      </a:r>
                      <a:endParaRPr/>
                    </a:p>
                  </a:txBody>
                  <a:tcPr marT="91425" marB="91425" marR="91425" marL="91425"/>
                </a:tc>
                <a:tc>
                  <a:txBody>
                    <a:bodyPr/>
                    <a:lstStyle/>
                    <a:p>
                      <a:pPr indent="0" lvl="0" marL="0" rtl="0" algn="ctr">
                        <a:spcBef>
                          <a:spcPts val="0"/>
                        </a:spcBef>
                        <a:spcAft>
                          <a:spcPts val="0"/>
                        </a:spcAft>
                        <a:buNone/>
                      </a:pPr>
                      <a:r>
                        <a:rPr lang="en"/>
                        <a:t>Leaf Wise</a:t>
                      </a:r>
                      <a:endParaRPr/>
                    </a:p>
                  </a:txBody>
                  <a:tcPr marT="91425" marB="91425" marR="91425" marL="91425"/>
                </a:tc>
                <a:tc>
                  <a:txBody>
                    <a:bodyPr/>
                    <a:lstStyle/>
                    <a:p>
                      <a:pPr indent="0" lvl="0" marL="0" rtl="0" algn="ctr">
                        <a:spcBef>
                          <a:spcPts val="0"/>
                        </a:spcBef>
                        <a:spcAft>
                          <a:spcPts val="0"/>
                        </a:spcAft>
                        <a:buNone/>
                      </a:pPr>
                      <a:r>
                        <a:rPr lang="en"/>
                        <a:t>Large-scale data, high speed</a:t>
                      </a:r>
                      <a:endParaRPr/>
                    </a:p>
                  </a:txBody>
                  <a:tcPr marT="91425" marB="91425" marR="91425" marL="91425"/>
                </a:tc>
              </a:tr>
            </a:tbl>
          </a:graphicData>
        </a:graphic>
      </p:graphicFrame>
      <p:sp>
        <p:nvSpPr>
          <p:cNvPr id="94" name="Google Shape;94;p18"/>
          <p:cNvSpPr txBox="1"/>
          <p:nvPr/>
        </p:nvSpPr>
        <p:spPr>
          <a:xfrm>
            <a:off x="952500" y="344875"/>
            <a:ext cx="723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Use Cases and Comparative Analysis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